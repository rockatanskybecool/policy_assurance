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9a15834c084c3a" /><Relationship Type="http://schemas.openxmlformats.org/officeDocument/2006/relationships/extended-properties" Target="/docProps/app.xml" Id="Ra91eb0f9ab5a425d" /><Relationship Type="http://schemas.openxmlformats.org/officeDocument/2006/relationships/officeDocument" Target="/ppt/presentation.xml" Id="R0965a974010047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52b0bfe4f14103"/>
  </p:sldMasterIdLst>
  <p:notesMasterIdLst>
    <p:notesMasterId xmlns:r="http://schemas.openxmlformats.org/officeDocument/2006/relationships" r:id="R9bd33f4330744a0f"/>
  </p:notesMasterIdLst>
  <p:sldIdLst>
    <p:sldId xmlns:r="http://schemas.openxmlformats.org/officeDocument/2006/relationships" id="256" r:id="R3b2ebb10caf54e34"/>
    <p:sldId xmlns:r="http://schemas.openxmlformats.org/officeDocument/2006/relationships" id="257" r:id="R176795a7bc5e48ef"/>
    <p:sldId xmlns:r="http://schemas.openxmlformats.org/officeDocument/2006/relationships" id="258" r:id="Re2c6e3f21242418b"/>
    <p:sldId xmlns:r="http://schemas.openxmlformats.org/officeDocument/2006/relationships" id="259" r:id="R79fe9dfa5d364bd1"/>
    <p:sldId xmlns:r="http://schemas.openxmlformats.org/officeDocument/2006/relationships" id="260" r:id="R599353de9a094c48"/>
    <p:sldId xmlns:r="http://schemas.openxmlformats.org/officeDocument/2006/relationships" id="261" r:id="R71a9f68a86a04c2b"/>
    <p:sldId xmlns:r="http://schemas.openxmlformats.org/officeDocument/2006/relationships" id="262" r:id="Rd7fcea75766b46cf"/>
    <p:sldId xmlns:r="http://schemas.openxmlformats.org/officeDocument/2006/relationships" id="263" r:id="Racc86d1d247d41e1"/>
    <p:sldId xmlns:r="http://schemas.openxmlformats.org/officeDocument/2006/relationships" id="264" r:id="Rdbb151c07539491a"/>
    <p:sldId xmlns:r="http://schemas.openxmlformats.org/officeDocument/2006/relationships" id="265" r:id="R0390733ac0c0445b"/>
    <p:sldId xmlns:r="http://schemas.openxmlformats.org/officeDocument/2006/relationships" id="266" r:id="Rf4aed9d93d804d05"/>
    <p:sldId xmlns:r="http://schemas.openxmlformats.org/officeDocument/2006/relationships" id="267" r:id="R0cd78e7e8d95401a"/>
    <p:sldId xmlns:r="http://schemas.openxmlformats.org/officeDocument/2006/relationships" id="268" r:id="R69edbe99838c4ffc"/>
    <p:sldId xmlns:r="http://schemas.openxmlformats.org/officeDocument/2006/relationships" id="269" r:id="R949c5607edbd4f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52b0bfe4f14103" /><Relationship Type="http://schemas.openxmlformats.org/officeDocument/2006/relationships/theme" Target="/ppt/theme/theme1.xml" Id="R8e69ad71af6d48de" /><Relationship Type="http://schemas.openxmlformats.org/officeDocument/2006/relationships/notesMaster" Target="/ppt/notesMasters/notesMaster1.xml" Id="R9bd33f4330744a0f" /><Relationship Type="http://schemas.openxmlformats.org/officeDocument/2006/relationships/presProps" Target="/ppt/presProps.xml" Id="Re46efda145574e70" /><Relationship Type="http://schemas.openxmlformats.org/officeDocument/2006/relationships/viewProps" Target="/ppt/viewProps.xml" Id="R4f33024c711c4678" /><Relationship Type="http://schemas.openxmlformats.org/officeDocument/2006/relationships/tableStyles" Target="/ppt/tableStyles.xml" Id="R912f5007df6042ae" /><Relationship Type="http://schemas.openxmlformats.org/officeDocument/2006/relationships/slide" Target="/ppt/slides/slide1.xml" Id="R3b2ebb10caf54e34" /><Relationship Type="http://schemas.openxmlformats.org/officeDocument/2006/relationships/slide" Target="/ppt/slides/slide2.xml" Id="R176795a7bc5e48ef" /><Relationship Type="http://schemas.openxmlformats.org/officeDocument/2006/relationships/slide" Target="/ppt/slides/slide3.xml" Id="Re2c6e3f21242418b" /><Relationship Type="http://schemas.openxmlformats.org/officeDocument/2006/relationships/slide" Target="/ppt/slides/slide4.xml" Id="R79fe9dfa5d364bd1" /><Relationship Type="http://schemas.openxmlformats.org/officeDocument/2006/relationships/slide" Target="/ppt/slides/slide5.xml" Id="R599353de9a094c48" /><Relationship Type="http://schemas.openxmlformats.org/officeDocument/2006/relationships/slide" Target="/ppt/slides/slide6.xml" Id="R71a9f68a86a04c2b" /><Relationship Type="http://schemas.openxmlformats.org/officeDocument/2006/relationships/slide" Target="/ppt/slides/slide7.xml" Id="Rd7fcea75766b46cf" /><Relationship Type="http://schemas.openxmlformats.org/officeDocument/2006/relationships/slide" Target="/ppt/slides/slide8.xml" Id="Racc86d1d247d41e1" /><Relationship Type="http://schemas.openxmlformats.org/officeDocument/2006/relationships/slide" Target="/ppt/slides/slide9.xml" Id="Rdbb151c07539491a" /><Relationship Type="http://schemas.openxmlformats.org/officeDocument/2006/relationships/slide" Target="/ppt/slides/slide10.xml" Id="R0390733ac0c0445b" /><Relationship Type="http://schemas.openxmlformats.org/officeDocument/2006/relationships/slide" Target="/ppt/slides/slide11.xml" Id="Rf4aed9d93d804d05" /><Relationship Type="http://schemas.openxmlformats.org/officeDocument/2006/relationships/slide" Target="/ppt/slides/slide12.xml" Id="R0cd78e7e8d95401a" /><Relationship Type="http://schemas.openxmlformats.org/officeDocument/2006/relationships/slide" Target="/ppt/slides/slide13.xml" Id="R69edbe99838c4ffc" /><Relationship Type="http://schemas.openxmlformats.org/officeDocument/2006/relationships/slide" Target="/ppt/slides/slide14.xml" Id="R949c5607edbd4f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279f0342fc849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91b41d07b34257" /><Relationship Type="http://schemas.openxmlformats.org/officeDocument/2006/relationships/notesMaster" Target="/ppt/notesMasters/notesMaster1.xml" Id="R8c21d1678aef47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2d8e1a06054930" /><Relationship Type="http://schemas.openxmlformats.org/officeDocument/2006/relationships/notesMaster" Target="/ppt/notesMasters/notesMaster1.xml" Id="R031d246e873a46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47d848279f4074" /><Relationship Type="http://schemas.openxmlformats.org/officeDocument/2006/relationships/notesMaster" Target="/ppt/notesMasters/notesMaster1.xml" Id="Rd8171f4373b14b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943b7b6d9b411c" /><Relationship Type="http://schemas.openxmlformats.org/officeDocument/2006/relationships/notesMaster" Target="/ppt/notesMasters/notesMaster1.xml" Id="Rb60b86d01a46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8c9f110f5a43d1" /><Relationship Type="http://schemas.openxmlformats.org/officeDocument/2006/relationships/notesMaster" Target="/ppt/notesMasters/notesMaster1.xml" Id="Rfd393cc8fb804f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0ab34181a745ee" /><Relationship Type="http://schemas.openxmlformats.org/officeDocument/2006/relationships/notesMaster" Target="/ppt/notesMasters/notesMaster1.xml" Id="Rf695ba65415143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4851c4ab1643bd" /><Relationship Type="http://schemas.openxmlformats.org/officeDocument/2006/relationships/notesMaster" Target="/ppt/notesMasters/notesMaster1.xml" Id="R9a3e6d51130f4b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7531c391df427e" /><Relationship Type="http://schemas.openxmlformats.org/officeDocument/2006/relationships/notesMaster" Target="/ppt/notesMasters/notesMaster1.xml" Id="R910741384aeb41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609bb1378e4c03" /><Relationship Type="http://schemas.openxmlformats.org/officeDocument/2006/relationships/notesMaster" Target="/ppt/notesMasters/notesMaster1.xml" Id="Rfc1cabca24714d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e1a783cd044786" /><Relationship Type="http://schemas.openxmlformats.org/officeDocument/2006/relationships/notesMaster" Target="/ppt/notesMasters/notesMaster1.xml" Id="R1affe5370eb64a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add2194f8541a9" /><Relationship Type="http://schemas.openxmlformats.org/officeDocument/2006/relationships/notesMaster" Target="/ppt/notesMasters/notesMaster1.xml" Id="R7cc34011bdf645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c6a7c72bd543ae" /><Relationship Type="http://schemas.openxmlformats.org/officeDocument/2006/relationships/notesMaster" Target="/ppt/notesMasters/notesMaster1.xml" Id="R734456ce41d842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f4a5d04c6b4f9d" /><Relationship Type="http://schemas.openxmlformats.org/officeDocument/2006/relationships/notesMaster" Target="/ppt/notesMasters/notesMaster1.xml" Id="R2338b49a710041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d8ca453ea44635" /><Relationship Type="http://schemas.openxmlformats.org/officeDocument/2006/relationships/notesMaster" Target="/ppt/notesMasters/notesMaster1.xml" Id="Rf26583cd3ad045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2f3808809464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17ee1e04c214c62" /><Relationship Type="http://schemas.openxmlformats.org/officeDocument/2006/relationships/slideLayout" Target="/ppt/slideLayouts/slideLayout2.xml" Id="R474a96362aed43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4a96362aed43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2579f778c648e4" /><Relationship Type="http://schemas.openxmlformats.org/officeDocument/2006/relationships/notesSlide" Target="/ppt/notesSlides/notesSlide1.xml" Id="R093eaee9a49f48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10257d57d4107" /><Relationship Type="http://schemas.openxmlformats.org/officeDocument/2006/relationships/notesSlide" Target="/ppt/notesSlides/notesSlide2.xml" Id="Ra9e860b94dd8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8cdd607afb4cf6" /><Relationship Type="http://schemas.openxmlformats.org/officeDocument/2006/relationships/notesSlide" Target="/ppt/notesSlides/notesSlide3.xml" Id="R7ab3f6b2179845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6e27f2ba144e55" /><Relationship Type="http://schemas.openxmlformats.org/officeDocument/2006/relationships/notesSlide" Target="/ppt/notesSlides/notesSlide4.xml" Id="Rccdf6c5ef3e74e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2a2dfc58824971" /><Relationship Type="http://schemas.openxmlformats.org/officeDocument/2006/relationships/notesSlide" Target="/ppt/notesSlides/notesSlide5.xml" Id="Re0c245cdce8a43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3fc29657f846cd" /><Relationship Type="http://schemas.openxmlformats.org/officeDocument/2006/relationships/notesSlide" Target="/ppt/notesSlides/notesSlide6.xml" Id="Ra5fb886eefcc45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841ec8449d4fba" /><Relationship Type="http://schemas.openxmlformats.org/officeDocument/2006/relationships/notesSlide" Target="/ppt/notesSlides/notesSlide7.xml" Id="Rea4f1dbcfdf347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fe592c3f054203" /><Relationship Type="http://schemas.openxmlformats.org/officeDocument/2006/relationships/notesSlide" Target="/ppt/notesSlides/notesSlide8.xml" Id="R783fd8a1d75d4d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6bbdc9ac24e8e" /><Relationship Type="http://schemas.openxmlformats.org/officeDocument/2006/relationships/notesSlide" Target="/ppt/notesSlides/notesSlide9.xml" Id="R65c751d67b8149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4a862bf40f4751" /><Relationship Type="http://schemas.openxmlformats.org/officeDocument/2006/relationships/notesSlide" Target="/ppt/notesSlides/notesSlide10.xml" Id="R07a39fcf132049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fd542c72c14d51" /><Relationship Type="http://schemas.openxmlformats.org/officeDocument/2006/relationships/notesSlide" Target="/ppt/notesSlides/notesSlide11.xml" Id="R71de896b67124f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2a98ef7573402d" /><Relationship Type="http://schemas.openxmlformats.org/officeDocument/2006/relationships/notesSlide" Target="/ppt/notesSlides/notesSlide12.xml" Id="R90e8f7869ace4b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01b82041f4469a" /><Relationship Type="http://schemas.openxmlformats.org/officeDocument/2006/relationships/notesSlide" Target="/ppt/notesSlides/notesSlide13.xml" Id="Re253ca0a501a4d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6564098d0f46b7" /><Relationship Type="http://schemas.openxmlformats.org/officeDocument/2006/relationships/notesSlide" Target="/ppt/notesSlides/notesSlide14.xml" Id="R4c7c6d6ae97e4f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FA9FC-C5A3-44F9-B55E-C559914E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6E1E8-3A49-4033-A3A1-F4ACF109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B8274-EE9E-49D8-84F6-4FDE2C51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E0D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E0D9"/>
                </a:solidFill>
                <a:latin typeface="Aptos"/>
                <a:ea typeface="Aptos"/>
                <a:cs typeface="Aptos"/>
              </a:rPr>
              <a:t>APPLICATION 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C6615-40C1-47FD-8155-32A3E9F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policy assurance platform, not a document chatbot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57DBD-1088-44CA-923B-94AC697D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2"/>
                </a:solidFill>
                <a:latin typeface="Aptos"/>
                <a:ea typeface="Aptos"/>
                <a:cs typeface="Aptos"/>
              </a:rPr>
              <a:t>The application gives the Department state-wide policy visibility while helping schools remediate gaps faster.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EE6AA-6A48-475D-A423-199F1D7B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5143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A"/>
          </a:solidFill>
          <a:ln xmlns:a="http://schemas.openxmlformats.org/drawingml/2006/main" w="9525">
            <a:solidFill>
              <a:srgbClr val="3141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48B38-E34D-4347-8849-FACEB1FF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Trust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3C9B5-7FC4-4878-A2A7-843AD576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D1C8"/>
          </a:solidFill>
          <a:ln xmlns:a="http://schemas.openxmlformats.org/drawingml/2006/main" w="9525">
            <a:solidFill>
              <a:srgbClr val="5FD1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5B26E-6EDD-4A6A-B49F-681AF6F1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CF9CF-C5BF-427A-9D06-179CC885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A9FF"/>
          </a:solidFill>
          <a:ln xmlns:a="http://schemas.openxmlformats.org/drawingml/2006/main" w="9525">
            <a:solidFill>
              <a:srgbClr val="8FA9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D926E-58F1-41C4-8964-D4B8207A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3A02C-9FF0-42AE-A9A7-5D0D335F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E823A-2AFB-4D7E-9643-DB8E7B33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3375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EF73E-D14F-493A-925C-5F354A39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D0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D7D00-BA24-4850-A6E4-F3BA1ACD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33750"/>
            <a:ext cx="933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75603-4842-4D00-87F2-89E7C8E1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6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8E6F2"/>
                </a:solidFill>
                <a:latin typeface="Aptos"/>
                <a:ea typeface="Aptos"/>
                <a:cs typeface="Aptos"/>
              </a:rPr>
              <a:t>LLM acceleration works inside this control system: classify, summarise, compare, draft, and prompt.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33302-D671-40F7-BFA5-0D496401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6345D-0239-4F6E-914A-4083F1C9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B"/>
                </a:solidFill>
                <a:latin typeface="Aptos"/>
                <a:ea typeface="Aptos"/>
                <a:cs typeface="Aptos"/>
              </a:rPr>
              <a:t>Combines public website scanning, internal policy governance, and context-aware drafting.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8E3F3-39BB-4A19-943B-61047C60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D7CE8-5118-4C8B-ABF6-28E1BC07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B"/>
                </a:solidFill>
                <a:latin typeface="Aptos"/>
                <a:ea typeface="Aptos"/>
                <a:cs typeface="Aptos"/>
              </a:rPr>
              <a:t>Serves Department compliance teams, principals, administrators, and school council presidents.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3F1F38-A772-470C-B363-7E9CAF49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5CF0B-994E-47D3-B1C0-8CDA1F84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576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B"/>
                </a:solidFill>
                <a:latin typeface="Aptos"/>
                <a:ea typeface="Aptos"/>
                <a:cs typeface="Aptos"/>
              </a:rPr>
              <a:t>Anchors trust in structured obligations, traceable evidence, workflow controls, and human approval.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0EEDF-01C3-4EB6-922C-1A49DA0A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6B89A-D667-4E61-B936-B9548B77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481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2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2FB"/>
                </a:solidFill>
                <a:latin typeface="Aptos"/>
                <a:ea typeface="Aptos"/>
                <a:cs typeface="Aptos"/>
              </a:rPr>
              <a:t>Uses LLMs to accelerate classification, comparison, summarisation, prompting, and drafting.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A13777-E360-4E46-B20E-210A8BBE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630E68-DEDB-47F8-BF72-347F9834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18348072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DA42C5-5D1B-47A8-8388-FEAD86B8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E832E-D628-4A8E-9E8B-B1316A28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340DB-6289-4153-A686-9800CA45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RISKMATRIX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C6C20-8519-48F9-9C3B-75A0E048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compliance problem is bigger than whether a PDF exists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E5E96-AEE4-4FF2-8209-8FAA8B4B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Schools can appear compliant while still carrying hidden publication, currency, template, and governance risks.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7430A-FEF3-4551-9D6D-9A21423D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13486-B068-47BA-A23E-139E0B8E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Public policies may be missing, poorly named, hidden, duplicated, stale, or linked incorrectly.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AD914-68A1-45CC-B6CF-8E93EE98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1DB5D-529F-402F-8D8E-EB1BA934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Internal policies may lack metadata, review dates, version control, or endorsement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A52CE8-D605-4166-9361-ED3CAE08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A000E-276E-4BF6-A02C-326A6A84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Existing policies can drift away from the latest Department template or omit mandatory clauses.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D661C-23E8-43F6-9E3E-1BB42CD3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F982D-9979-43A1-B64B-A93AAB29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Principals need remediation support, not just a list of exceptions.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035B8-4C86-4F17-B0BC-DBD2CD9B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E3704-7ABC-460E-B1C0-571F979F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3909926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409BCC-5604-466A-ADAD-D76178D6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86EDD-6912-4A1E-806C-B68F4C7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44931-19E1-4FA4-A99E-48B301AA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8C209-49DD-4198-B956-AABF1969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Three operating principles govern the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199DB-7EAC-48E8-8876-30FD927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Rules decide what must be true; evidence proves what was found; workflow ensures accountable remediation.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E30FC-602C-4470-B265-3C96876C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D0EEB-C688-45E9-8C94-94A62C54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90E29-D1FF-4C6E-BE49-67DE61F6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5A4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855A4"/>
                </a:solidFill>
                <a:latin typeface="Aptos"/>
                <a:ea typeface="Aptos"/>
                <a:cs typeface="Aptos"/>
              </a:rPr>
              <a:t>RULES-FIRST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E9C64-2EE9-4FB8-9A11-68887778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2419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Rules-first: Department obligations, review cadence, applicability, template versions, and endorsement requirements.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6C109-B3D0-42BE-8A40-BDBB39E4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79E12-4E64-4E00-96ED-1B31984B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F890F-727A-47AE-A4E3-AB304DB2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33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EVIDENCE-FIRST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48E68-AA16-442A-B7B6-82BA1413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419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Evidence-first: crawl paths, files, extracted text, dates, metadata, confidence levels, and audit trails.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9FA7B-6316-4AA0-92B3-796F1A85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6CB34-D950-4991-A39C-BEF74A3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71750"/>
            <a:ext cx="2952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0EBEA1-6DF0-4301-916F-0F2ED955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WORKFLOW-FIRST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B0D98-BD2D-47FA-A493-1CCFA15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24193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Workflow-first: action plans, drafting, review, endorsement, publication, closure, and challenge processes.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74095A-0A72-4972-BC82-BC38FAC7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57600"/>
            <a:ext cx="676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D1BEA-E340-4B47-8F96-95442670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9BFC1-EF35-4867-BF49-D6D75804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57600"/>
            <a:ext cx="676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99215-C98D-4AB2-B80B-DA34F69E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609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DA6F0F-E8EA-41CA-A831-24E9BFFA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57800"/>
            <a:ext cx="8048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LLM acceleration sits inside these controls rather than replacing them.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E27AB-C3B6-436A-9A99-A1A35EA1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4D12C-ADA5-409E-A9E4-C4002390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12612012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B042AA-E111-43E1-89A6-F1DC9F6B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9823B-E8AC-455A-8647-3533D0C4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550D0-5D66-4EEC-AD32-75F63480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PRODUCT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51BA3-B3A7-4EA6-B358-3B4B5B46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Six product capabilities form the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7E1F4-F626-4450-9217-ED6E89A7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The product spans discovery, compliance evaluation, reporting, drafting, governance, and continuous monitoring.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3A3C4-1622-4CEC-980E-B33143F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D3480-16DD-4E21-9F40-2FB765AE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F14C7-4700-48C9-928A-9BB5105B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Public website scanner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373C0-61D4-49B0-BCDC-3EF9D4BD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finds required policies and publication issues across school sites.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BF695-D42F-4D0F-A150-049A0413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498F2-EEE0-4736-90FF-4DC83B5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2298E-8481-4C09-B71C-9D712045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Internal policy portal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DECFB-781B-4E36-A279-365CDD88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manages non-public documents, versions, metadata, reviews, and approvals.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703D9-F155-4A93-9933-474FBD09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5073C-983D-43E8-A36B-7D60F765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071E7-3695-4260-B58F-2C86E45A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Compliance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7F401-EEF8-4A79-B87B-EE40FFDE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checks obligations, template alignment, review cadence, and endorsement rules.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4DF1F-B431-4FEF-8EA1-9122C9A8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1AA2E-7902-48DF-A2E4-27E8396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0FE96-FA7F-4598-98E8-8956E7D5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Reporting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953ACF-4FEA-4C5F-9BEF-5915AC83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state-wide dashboards, school action plans, and council governance reports.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D51BB-A4A6-40C7-A038-4B91C6F6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EE8F23-DE8F-49C5-8271-B169FDE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F98F7-F9A0-4F4E-9595-4D30D83A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Drafting workspace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3474F-1108-435E-8772-9A44C750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creates editable policy drafts from approved templates and validated school context.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A6978-D00A-4026-B8B9-F2300006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08500-51EC-482D-8903-AA646689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F2C05D-7DF1-479A-A230-50A48E33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Workflow engine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2B0C3B-CE82-43F1-94AB-E8223E42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2800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routes remediation through review, endorsement, publication, and audit closure.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F2C4B-21FA-4A2B-94BF-11B2C551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2CA83F-F55A-490E-AEE7-61816648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10372051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C2E30E-1034-4D4E-8075-64939096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EFF69-DAE5-4EBA-82CB-576582C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C05CA-39F5-4436-9210-C2726C63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05F80-9C84-46D4-AE0B-5CAE39F6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Authoritative data sources constrain the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F4DAB-3945-4F2A-96A1-72EE256E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Compliance and drafting quality depend on structured sources of truth, not freeform interpretation.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F59CE-7334-41F0-9D36-71061BB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2D3F6-46E0-44C7-9859-87EF3E7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Policy obligation register: required policies, aliases, applicability, public/internal status, cadence, risk, roles, and evidence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3686A-B926-4DF6-9ABF-C6C331AC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8EBDC-DC69-4A85-A09A-DD287873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Department template library: current versions, superseded versions, release dates, protected clauses, optional fields, and local placeholders.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2C110-C138-4BEA-AAE4-6D11E52F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239D4-FA9F-4DAF-A3E6-4F42D0F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School context profile: school type, campuses, year levels, governance, contacts, operations, council cycles, and publication preferences.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61859-8039-405F-A759-7EB3E859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9686F-7079-4E13-8693-FDD3DC89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Each school-specific fact must carry provenance so drafts can distinguish known facts from assumptions.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D370C-F6A4-4CB3-B0E0-0E4438A8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7D651-6BF5-4AF2-8A6E-CBC92E9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10872410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64AB0A-41BA-40FA-BFC2-89093548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05902-8652-4DF2-9DFE-7CEBAE08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5F34A-50A7-4248-BBF6-62EF6A02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DISCOVERY AND INGESTION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FA013-0524-47A1-801D-FAC88D9A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Discovery pipeline captures both public and internal policy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386E7-D540-417E-8B59-407F259C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The platform builds a defensible inventory of what each school has published, uploaded, approved, and endorsed.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F99DC-E3A9-439D-A45C-57CF7D54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E73AD-4B85-48F0-B9D7-5A3657FE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4A0A1-85CC-4543-8A9D-3A018016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Crawl public sites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1730D-E11D-4313-BCEF-DCC18E1E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289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31CED-D2C1-4D4F-999B-39705775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181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2560B-1C38-46D4-B597-17137EA4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9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CAD922-5BE7-432B-AC2C-F3378FF7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987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23DAC-96FA-479A-A7D4-D2A58C42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575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Ingest internal uploads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7D22C-E6B0-4EBE-A949-DF31DD65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289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4B3EA-99A7-465D-8504-40708692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81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3AB273-42D5-4915-B1BF-2335C000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1E554-D026-435E-81BC-F42A38EB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FEFAF-2FC6-4CE6-BA5E-11B1EC8C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575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Parse documents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49D393-79F8-4BFB-9093-5BF22059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289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F6A692-F4F3-4BCC-B58E-73D40947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81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AB7B4-4558-4AA0-BF3A-34EE73FF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9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AE0C1-1ECC-4C67-B6AD-A98A09CA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987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6BDBB-C49E-41F5-8AA7-565E9D57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Extract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85EC45-8629-45B1-8760-A8D51D53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289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7A41E-AA92-4D9C-8D11-6F4A1263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81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4B4B5-9B09-48A4-ACF9-74A0177A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6918C0-7863-4555-B91A-1D1A0565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1619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F34B4-F387-4DAA-B4FA-180157E5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57525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Store audit pack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9F2C47-E198-465C-B529-834B7638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C372BA-2465-44C6-9896-289E04C5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Crawl policy pages, navigation menus, document repositories, PDFs, DOCX files, and HTML content.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B1779C-35E1-4C6B-8AE0-6FE98CC5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4D77FB-363C-463F-8FB2-28A97F90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Capture URLs, link text, page context, crawl path, HTTP status, file metadata, last-modified headers, and scan timestamps.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83CD-3488-4DEB-B11D-7F6DB4B8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FB11C5-DC38-4256-96C4-CEBA0444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Ingest internal policies through authenticated upload with metadata, ownership, review date, and endorsement status.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8447A4-B29A-4F2E-A327-170B7A16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A71FA9-DD3B-438D-8A3A-C801F1E2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Parse PDFs, DOCX, HTML, scanned files, headings, tables, dates, versions, approval statements, and endorsement information.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3AB1D8-2243-4DC7-A7B2-8AAB3178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4B1C79-74F5-4612-90E9-3B4F49FE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13082432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5B8BB7-5CBE-49C1-90CE-26E65B3C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E1C90-5C7E-4972-817B-228D5E40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B8019-1F85-44AB-B45B-279839EA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MATCHING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1AA6A-4296-430E-956E-AAB2831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Matching is evidence-backed and confidence-rated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B0F3-8937-4917-A471-0304D62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Ambiguous documents should become review items, not silent compliance passes.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14700-7A05-4244-BEBC-908D29BE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C1FC0-47E3-46B1-9FFE-AC0A9605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deterministic signals first: file names, headings, aliases, link text, page context, template phrases, metadata, and 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8D404-5B02-47EC-AF6A-0D23B99E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AE799-0658-409A-80D0-0F235464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LLM assistance for fuzzy naming, ambiguous classification, summarisation, and similarity analysis.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83BA2-0665-427A-B635-4F82C624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BF1D1-9F25-481D-A16E-D5BADF09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Generate confidence levels: high, medium, low, or needs review.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198C9-1CF7-40CF-AEC0-11078922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F92AA-EB03-4BD5-BAB3-83816823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Attach evidence packs with source, timestamp, extracted text, matched requirement, rule applied, date evidence, template comparison, and confidence.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5A0CD-363A-434C-8407-1B6D1C53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F5742-5A0E-408E-9C68-4437719F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Allow schools to challenge or correct findings with Department oversight.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2EA5D-CFE4-4DD5-AA74-6E07F283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8A0DB-D28C-495F-955E-9C46084B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12312229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DB61FA-6163-4BF5-93B5-E0AE5BC2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13E63-7A1D-4D39-A253-3F885346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F9A6B-FBF4-47E2-8D44-93BB709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COMPLIANCE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27025-6D8C-4C6C-9594-12861624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Compliance is multi-dimensional, not pass/fail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82DB6-C615-40C4-93E9-2B3F19FC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 policy can exist while still being outdated, poorly published, non-aligned, inaccessible, or endorsement-pending.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0CEC2-9439-43DF-8F8A-448184E9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51ED3-DBB0-4EEF-A64C-37A8B4FC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55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60E6B-4196-4592-A675-52CB061E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A75D2-BCBD-4AFA-8721-C4D6E84F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24125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Existence: document found or uploaded.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2811D-12B9-4682-B6DF-4416DFCC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812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2D72E-7F8A-410B-B0A0-FF543A9C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81250"/>
            <a:ext cx="55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F7AA8-32E7-49E2-851B-CDE818F7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510DA-F638-4080-99AA-58BFCA36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24125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Availability: public policy is reachable from the school website.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458BD-78D7-4244-A967-47D2EF43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13633-B4E4-471D-8450-154B19A4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55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3E9DA-2B9F-49DB-9A2F-5D83EADB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B0FDF1-F963-4A99-B5F6-39AB1289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0425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Discoverability: placed in expected navigation paths with clear link 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06181-9FA4-43BE-9CBF-12AE6902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575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1DA520-A546-41D8-8E83-A8083D7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57550"/>
            <a:ext cx="55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B39B6F-6627-40BE-A22F-0B4C943A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671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1D7EA-3418-41A0-BD4F-04BCF0D9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0425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Currency: review date aligns with Department cadence.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8ADBC-9806-4457-B66D-BBB88C79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DE40E-8B08-4E4B-AFCD-1379324F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55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FF423-FC06-44FD-9AAA-0245F9BA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C2C4E-3363-458C-A36B-11059947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76725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Template alignment: current version and mandatory clauses are present.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5E5050-4253-4381-B9F7-54C3A700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33850"/>
            <a:ext cx="409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5CB3D-6C0C-4E29-8F35-0CA145EA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33850"/>
            <a:ext cx="5524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6D861-5379-4CF7-B949-BD51C3CA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43400"/>
            <a:ext cx="228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BD7CC7-EE5D-498B-B4EC-E9C2693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76725"/>
            <a:ext cx="3143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Governance: approval and school council endorsement are complete where required.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249B3-991A-48A5-9FBF-513BD427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B8889-9887-43D6-AA4A-4F76936C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3041697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FFE312-B0E0-48E5-B9A4-A3FC5B0B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36514-1733-4A8B-ACD6-E9065510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2BC03-28D7-405E-9E43-57A4868E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EC31A-436E-4545-9852-321BF769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Reports convert findings into operational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293A7-08B6-47E8-9871-AEB108A6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The value is not merely exception detection; it is prioritised remediation for each audience.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F74A6-992F-4BD7-B253-1E0ED50B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7F60C-D489-418B-9EAC-A113022F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Department view: state-wide compliance by school, region, policy category, risk level, and remediation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2C56B-3360-4AC8-A29D-5DD98222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3DF4D-E052-4017-8EF5-3D928309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School view: prioritised action plan with next best step, responsible role, target date, evidence, template link, and draft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61310-5904-4C94-9AFD-66DD712D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19AF9-547B-4DC2-9FF1-02CE9F15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Council view: endorsement obligations, overdue items, meeting-ready packs, approval decisions, and governance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C6C24-16DE-40FB-8A4C-08B4D806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C49C5-B156-416A-AC59-8961F502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Exports include action registers, briefing packs, heatmaps, trend summaries, and evidence-backed exception reports.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65E7C-806F-4D44-A10D-B17B70F3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EFE01-8DAA-4753-B99C-18852805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8265407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607858-BE02-4B2A-8192-21216A69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155AC-A528-4636-BAFC-0693B9C7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4E2C6-FBE8-45BB-BDAD-6D56F465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DRAFTING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BBD15-A99F-487B-9CAC-DA24815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Drafting is controlled, contextual, and reviewable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6549D-2C54-440E-A0C0-DA17F9E7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The drafting workspace should help schools complete templates without weakening Department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B7325-3B10-4CC1-8A8C-781344F0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E652E-93EB-4829-BAB8-59948250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Start from the current Department template and preserve protected mandatory clauses.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A5105-B17B-41E0-A5E8-FF070965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B82B99-D12B-4272-8578-ED5CA11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Populate editable local fields using validated school context and existing policy content.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B7175-3991-4C50-96FD-DE391975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A2786-FA26-4B2D-A6A1-70D285E1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Compare current wording to the latest template and show redline-style guidance where possible.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CF3E6-E38D-44F5-B65C-37ACF1D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0A10E1-AD22-4E88-B602-5ACB621D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Highlight assumptions, missing facts, template changes, and sections needing principal confirmation.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AEC0C-F7D5-4187-AF35-E5C667B8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DD927-A893-4DB8-95E3-8E9190C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Support comments, edits, approval routing, council endorsement routing, final export, and publication tracking.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06544-84E3-48C1-B5F4-D81E302C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49D76-424C-45CC-AAF4-54316F43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20484817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F73488-DBBE-4A16-BB66-28DB47BA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E5447-C9CE-4216-B12A-F4E156C0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36D3E-A0C2-4FC4-A402-1122A2D7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36442-076D-48F9-ADF3-53792A3A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LLMs and agents accelerate work inside strict guardrails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16E08-1723-4D1D-AA75-4B2D533F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AI can reduce administrative load, but final compliance, publication, and governance decisions remain human-controlled.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1A8D60-EDFD-4D58-848F-2B9D0918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688D7-C239-4B5E-8454-0961FCDD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LLMs classify ambiguous documents, summarise findings, compare policy text, draft localised content, and ask targeted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8E11F-8E36-4720-9856-DCBFCD9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17DEE-F278-4053-91E2-0291447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432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LLMs do not make final statutory decisions, legal interpretations, review deadline calculations, publication decisions, or approvals.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4927C-7B06-4BEF-9143-4ED38A6B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4630E-DDF0-4079-A72B-4CC40BD4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Bounded agents can retry site discovery, prepare exception explanations, compare documents, and create first drafts.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81732-6E0D-4C6E-A8B7-6B6575E4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1843E-5A67-43F9-AB27-7B9CF835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Agents cannot publish policies, mark compliance resolved, send formal escalations, or approve governance outcomes without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EC13C-71C7-4FA3-9F42-91971626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F14DBB-D888-4077-8A5B-18EE5135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Prompts, sources, outputs, model versions, and reviewer decisions are logged.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35352-EA4F-4FA7-A302-4AF97A7D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D7888-D39E-47CD-9A9F-9A52DE4C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19147728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CBF001-A34D-47E7-98A6-815EF9E7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88FFC-AA40-46E7-8BD9-A8AE936C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91EE0-7300-41F8-9ED0-DFC7B8B1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SYSTEM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ABFC4-E095-4AD6-B910-708B7B15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Recommended system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143FB-4079-4837-AA1F-607EAF3A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A modular architecture separates sources of truth, evidence capture, rules, LLM acceleration, workflow, and reporting.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E5D6A-4703-42A4-9905-37B283E2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86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1BA40-944A-4F0A-8926-469EFC0A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439B4-BA2E-4A6C-9C08-4A4A49F5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55A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855A4"/>
                </a:solidFill>
                <a:latin typeface="Aptos"/>
                <a:ea typeface="Aptos"/>
                <a:cs typeface="Aptos"/>
              </a:rPr>
              <a:t>Sources of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470CA-7641-4016-8343-88B13E40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828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Policy registry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Template library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School profiles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CAB7A-D706-462D-8E44-884418D2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00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EBE2A-D481-4947-AD7F-FBDCF3D7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52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79409-1CB3-41CB-A58C-DC6175D1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286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F946B-752E-434E-AA31-2936840E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8F741-D843-4A9A-852B-CED87AB4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Evidence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6E087-522F-4DD9-83A5-42A31140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52800"/>
            <a:ext cx="1828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Crawler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Ingestion pipeline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Parser + classifier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 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55887-F54B-40E7-AA49-A737C540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00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57042-F670-4F0E-BF68-B5603F8F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52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200C3-6CAE-4DB6-BE51-5E016703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286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9329B8-0CFB-4E17-BBB6-3F2159E3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5A657-F40D-404E-80D5-BCDB8638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6A0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6A00"/>
                </a:solidFill>
                <a:latin typeface="Aptos"/>
                <a:ea typeface="Aptos"/>
                <a:cs typeface="Aptos"/>
              </a:rPr>
              <a:t>Decision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307F4-4486-464C-A28C-18470A75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828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Rules engine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Compliance scoring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LLM accelerator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41E1D-4EC8-49ED-93FF-CDDB3B1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00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5119D-1C4C-48AB-AE22-3E25222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752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15066-4603-4A23-845B-E78BDEE9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286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9962C-8C1F-41B6-B537-DA298BF6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3687D7-5A9C-45FF-AAE6-5570AA16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194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4A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C4AB6"/>
                </a:solidFill>
                <a:latin typeface="Aptos"/>
                <a:ea typeface="Aptos"/>
                <a:cs typeface="Aptos"/>
              </a:rPr>
              <a:t>Action layer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96EEC-2B36-4811-B83A-E699160D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1828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Drafting service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Workflow engine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Reporting layer</a:t>
            </a:r>
          </a:p>
          <a:p xmlns:a="http://schemas.openxmlformats.org/drawingml/2006/main">
            <a:pPr algn="ctr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Audit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19517B-C840-46EE-AD9C-C62B534F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Relational DB + object storage + selective vector search + role-based access + immutable audit logs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2F8CC-E6C4-46D7-9E7C-BB88786C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D9A7F7-157C-492A-B717-992D95CC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498219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A2826D-C684-4AE7-A28C-9B3DA800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7E809-2F25-4283-820A-1E3C2381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54513-10D3-4B85-A666-19B5011B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REMEDIATION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43439-771B-4D98-9633-56EDA9AA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End-to-end remediation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CB7D7-9B17-479C-8DDD-20E8D447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Findings close only when evidence, approvals, and audit records support remediation.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5415F-83E7-4861-9702-8F48C0E5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BF742-6C3A-4E65-AD79-68C2D4EA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21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63B52-AC61-4138-ACC3-CDD704A1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Obligations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DFF39-F6CD-4E89-A3E0-E285E964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76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D068E-94D2-4071-8665-91D0FEB4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228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467BA-B187-4E9D-9A0B-DED5EF4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575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2BE7F-E0FE-4EF5-A203-05589577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57500"/>
            <a:ext cx="121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1724C-E5F5-4CE2-B5FC-DC65159B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051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Scan / 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4BCBD-087F-4291-85BA-FE44D5D5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76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EF0E4-C598-42B5-9160-170DD331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28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6442E-AC1E-4622-9334-2B54C401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C4E9F-B3C7-4F2D-9737-C54C99CB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121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7E49A-E7FB-470F-9E90-E3EEC2A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Parse + 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270A4-6DC7-47FC-9569-F4543A90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76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0CA35-7C37-4020-AF82-76E1F143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28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1B2CE-5863-4E1C-B21B-4AE07395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575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4C8FB-A102-42F6-BEFB-D8754AA8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57500"/>
            <a:ext cx="121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4F7231-5085-44C7-ACB8-F6937C9B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051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Rules + findings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C8302-5493-4C9D-8236-E89C6316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276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CC312F-3024-4880-9F5C-361DC32F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28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475B3-AEA9-4AB2-90F3-221EBC31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640076-BD7D-43A0-B602-338A47A1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121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A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1C98C7-CAD9-4B18-A2D3-F7FCF2E9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Action 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CC398-FF55-4798-9019-3CAE5269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6AB611-3B0E-4587-997F-41BF669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28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088823-7626-4EEA-A2D5-BA83A8DC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76062F-B565-4FA1-8559-45ABCE13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121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4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DF9E8C-3ADF-48A7-A16D-C5488FBB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051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Draft +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742008-027A-4910-BC4F-592070CD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2766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0E379E-B78F-442F-8B98-86204378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28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84B74D-291A-40B4-B5F3-43B09599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219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75DF63-6221-415E-8E98-FA73882C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219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E2EAFD-528A-4704-B7EC-E925EC6D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02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Endorse + close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4C2482-653A-49A6-B010-BEEBA7CF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A16095-D518-4132-AC81-E2221DB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Ingest Department obligations, template metadata, review calendars, and school profile data.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68C4A5-B77A-40C6-A9AA-89C36351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17AFC5-3B72-45CB-B18E-1C815975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Scan public websites and ingest internal uploads.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3414CD-016E-4DA9-A228-A8B4FD21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E31E4A-5BF7-42CA-9CFD-41BE7DD7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Parse, classify, and match documents to policy requirements.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A272B45-44F5-4097-AAB6-A670C44F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EB5E0E-D843-45CE-9300-E0CF79BA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Run compliance rules and generate evidence-backed findings.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95B28B-547F-433A-8390-CD49C432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EED044-3542-4B2A-A315-F4BEF106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9005638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D3630-7D3F-4ABE-B5CC-51E36B33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B712E-A5DB-4D83-84A0-AC67E14A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5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DD023-B58B-45CB-8C4E-54621317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7A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7A75"/>
                </a:solidFill>
                <a:latin typeface="Aptos"/>
                <a:ea typeface="Aptos"/>
                <a:cs typeface="Aptos"/>
              </a:rPr>
              <a:t>IMPLEMENTATION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2F554-EC9F-47EF-8C22-85A05AA7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Roadmap, operating model, and success measures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85546-CEC4-4C8B-9129-0A483DE5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76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The MVP should prove public compliance visibility first, then expand into internal governance and drafting productivity.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54BC2-1CCD-4F3D-A1C7-5212AD5B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CCFCF-D0FC-4CF5-874C-E0DC58C6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 Public compliance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867A0-3DED-41C0-A196-D6998A9D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67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6C8B7-C423-4D12-838C-F053E7C2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1EC43-093C-4D2F-8C58-E8A8E2E3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765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4AAFE-5D81-499A-B98C-8C69234A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051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 Action plans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0DF7E-3FEC-47F9-8E2A-B7354443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67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CEFFB-6AE8-41F0-8D4E-5BA4E31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6ADD6-E90E-4115-9F3B-16A9A9A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C9A20-BC89-4DDD-88EA-C1EAC4FF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 Internal portal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05CB6-E534-4242-BACA-0F1C3505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67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68B97-970E-4F16-8838-C3DF4285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2410E-68B8-436B-A103-DBEEA3ED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47056-6970-4BAA-A691-D461FBC1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 Drafting 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59637F-A1B2-49B2-8DEB-C5F08BA5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67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28C05-23E9-42AA-916A-0983CBAB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ECAC2-AA48-4DB9-AD96-2ECDA267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765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402613-D286-4804-B3D7-DE930E07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 Council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BC7B6-05D7-4158-AA8A-8057D0F8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67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6DC5A-14FD-49F6-BAC8-8CD2CC2B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219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5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5D77F-D07A-45A2-BD39-9A411FD1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765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B1DA8-27DD-4E5A-95E2-6593783B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05150"/>
            <a:ext cx="1200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6 Analytics + agents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95351F-0716-47EB-AA23-35524458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A00739-20AD-418C-8EC2-B004100D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Phase 1: obligation register, template metadata, public crawler, parser, classifier, rules engine, and Department dashboard.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C194BB-CB33-475C-B4BA-ACEF5B36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2451EE-1271-4062-9FB1-E2903785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1010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Phase 2: school action plans, evidence packs, correction workflows, and publication remediation tracking.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8463E7-93F2-4399-A65A-589EC9B7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A97B0A-29CB-4B25-A6A6-0F00515D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3395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Phase 3: internal policy portal with upload, version control, metadata capture, and internal checks.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473CD3-0FD6-450C-BB38-E5B64A74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29BF39-8B12-4F7B-BE44-B399AF65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Phase 4: controlled drafting workspace using templates and school context profiles.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841AE9-3AD5-44A0-8AED-6A1CD236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7A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0BF31F-A3FC-4189-98FE-4D9F9BEE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81650"/>
            <a:ext cx="942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Measure: discoverability, template alignment, overdue reviews, time saved, endorsement timeliness, remediation speed, and audit readiness.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A87DA0-04B9-49AB-8E6B-67FD3E69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1A729A-11B1-4CA2-886F-41A0B63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6A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A96A6"/>
                </a:solidFill>
                <a:latin typeface="Aptos"/>
                <a:ea typeface="Aptos"/>
                <a:cs typeface="Aptos"/>
              </a:rPr>
              <a:t>School Policy Compliance and Drafting Platform</a:t>
            </a:r>
          </a:p>
        </p:txBody>
      </p:sp>
    </p:spTree>
    <p:extLst>
      <p:ext uri="{BB962C8B-B14F-4D97-AF65-F5344CB8AC3E}">
        <p14:creationId xmlns:p14="http://schemas.microsoft.com/office/powerpoint/2010/main" val="596687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2026-05-07T03:45:15.9350000Z</dcterms:created>
  <dcterms:modified xsi:type="dcterms:W3CDTF">2026-05-07T03:45:15.9350000Z</dcterms:modified>
</coreProperties>
</file>